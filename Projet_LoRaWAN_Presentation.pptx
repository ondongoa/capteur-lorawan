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41.80:1880/ui" TargetMode="External"/><Relationship Id="rId2" Type="http://schemas.openxmlformats.org/officeDocument/2006/relationships/hyperlink" Target="http://54.242.158.223:3000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Capteur domestique de qualite de l'air interieur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IoT + LoRaWAN / The Things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894"/>
                </a:solidFill>
              </a:defRPr>
            </a:pPr>
            <a:r>
              <a:t>ETRS012 - Intelligence Ambiante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BOJANEK Jonathan  |  ONDONGO Alex  |  ROMAN Emerick  |  STEL Basile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Universite Savoie Mont Blanc - 03/04/2026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94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Introduction et choix des composants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Contexte, objectifs, materiel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94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LoRaWAN, protocole et ethique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Fonctionnement, payload, contraintes, vie privee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94"/>
                </a:solidFill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Node-RED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Reception MQTT, decodage, affichage temps reel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894"/>
                </a:solidFill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074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Application Web Next.js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API TTN, decodage, PWA mobile, alertes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Introduction et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Contexte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La qualite de l'air interieur est un enjeu de sante.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Les occupants passent la majorite de leur temps en interieur.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CO2, VOC et temperature sont des indicateurs cles.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Objectifs du projet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Prototype capteur IAQ connecte via LoRaWAN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Collecte sur 6h avec envoi toutes les 10 secondes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Detection d'anomalies embarquee (z-score vs MAD/Hampel)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Analyse ethique des donnees collectees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Question scientifique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Un z-score glissant est-il suffisant pour detecter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les anomalies domestiques, ou une methode robuste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MAD/Hampel est-elle necessaire ?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Livrables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1. Prototype fonctionnel (capteurs + LoRaWAN + TTN)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2. Dataset documente (2160 messages sur 6h)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3. Analyse quantitative (detection + reseau)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4. Document ethique argumente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5. Application web de visualisation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Choix des composants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Arduino UNO WiFi R4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Microcontroleur avec WiFi integre, compatible Grove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94"/>
                </a:solidFill>
              </a:defRPr>
            </a:pPr>
            <a:r>
              <a:t>Module LoRa-E5-HF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Communication LoRaWAN EU868, OTAA, SF7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7055"/>
                </a:solidFill>
              </a:defRPr>
            </a:pPr>
            <a:r>
              <a:t>Grove Gas Sensor V2 (GMXXX)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Capteur I2C multicritere : NO2, Ethanol, VOC, 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63031"/>
                </a:solidFill>
              </a:defRPr>
            </a:pPr>
            <a:r>
              <a:t>Grove Temperature V1.2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Thermistance NTC, lecture analogique sur A0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Chaine : Arduino --&gt; LoRa-E5 --&gt; Gateway --&gt; TTN --&gt; MQTT --&gt;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LoRaWAN :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Protocole LoRaWAN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Reseau LPWAN longue portee, faible consommation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Bande EU868 MHz (sans licence)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Spreading Factor 7 (debit max, portee min)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Activation OTAA (Over-The-Air Activation)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Classe C (reception continue)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E17055"/>
                </a:solidFill>
              </a:defRPr>
            </a:pPr>
            <a:r>
              <a:t>Contraintes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Duty cycle 1% en EU868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Taille payload limitee (max ~51 octets SF7)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Envoi toutes les 10s = choix experimental exigeant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Risque de pertes selon RSSI/SNR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Architecture TTN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The Things Network (serveur cloud gratuit)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Broker MQTT : eu1.cloud.thethings.network:8883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TLS (chiffre), authentification par API Key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Topic : v3/{app_id}@ttn/devices/{device}/up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Metriques radio observees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RSSI : -100 a -115 dBm (indoor correct)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SNR : 5 a 9 dB (liaison stable)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- 2160 messages sur 6h sans rupture majeure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Faisable dans cette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Aspects ethiques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D63031"/>
                </a:solidFill>
              </a:defRPr>
            </a:pPr>
            <a:r>
              <a:t>Risques d'inference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CO2 eleve = presence humaine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(jusqu'a 1151 ppm en occupation)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Routines deductibles via horaires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TVOC = activites (parfum, cuisine)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(pic a 235 lors du scenario parfum)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D63031"/>
                </a:solidFill>
              </a:defRPr>
            </a:pPr>
            <a:r>
              <a:t>Comparaison communautaire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Privilegier des indicateurs agreges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(ex: % temps CO2 &gt; 1000 ppm)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Minimum de participants par groupe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(approche k-anonymat)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Mesures de protection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Pseudonymisation : device_id_hash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(pas d'identifiant direct)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Minimisation : que les variables necessaires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Retention limitee et justifiee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Controle d'acces et tracabilite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Transparence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Documenter que TVOC est un indice,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pas une concentration absolue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Expliquer les regles d'alerte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Pas d'interpretation medicale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Recommander des actions (aerer)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Node-RED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Reception des donnees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Noeud MQTT connecte a TTN (TLS 8883)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Topic : v3/+/devices/+/up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Decodage JSON automatique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t>Traitement (fn_normalize)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Decodage payload base64 -&gt; 17 octets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Calcul temperature, gaz, flags, LED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Classification qualite air :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  faible / modere / eleve / critique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- 41 sorties vers les widgets dashboard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Logique auto-retry pour commandes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Dashboard temps reel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Vue Hero : resume complet du capteur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Jauges : temperature, NO2, VOC, CO, ethanol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Graphiques historiques (1h glissante)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Panneau KPI avec cartes colorees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Commande LED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Boutons ON / OFF / BLINK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Periode de clignotement configurable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Envoi downlink via MQTT TTN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Re-emission automatique si non conforme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Debug LoRaWAN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RSSI, SNR, gateways, data rate, airtime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- Dump JSON du dernier paquet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Capture : Node-RED dashboard avec jauges, historiques, commande LED et debug LoRaWAN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Application Web Next.js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rPr dirty="0"/>
              <a:t>Architecture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TTN (MQTT) --&gt; Next.js Server --&gt; API REST --&gt; Frontend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rPr dirty="0" err="1"/>
              <a:t>Connexion</a:t>
            </a:r>
            <a:r>
              <a:rPr dirty="0"/>
              <a:t> TTN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Lib mqtt.js cote </a:t>
            </a:r>
            <a:r>
              <a:rPr dirty="0" err="1"/>
              <a:t>serveur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Broker : eu1.cloud.thethings.network:8883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Username : {</a:t>
            </a:r>
            <a:r>
              <a:rPr dirty="0" err="1"/>
              <a:t>app_id</a:t>
            </a:r>
            <a:r>
              <a:rPr dirty="0"/>
              <a:t>}@ttn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Password : </a:t>
            </a:r>
            <a:r>
              <a:rPr dirty="0" err="1"/>
              <a:t>cle</a:t>
            </a:r>
            <a:r>
              <a:rPr dirty="0"/>
              <a:t> API TTN - Subscribe : v3/{app}@ttn/devices/+/up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rPr dirty="0"/>
              <a:t>Stockage </a:t>
            </a:r>
            <a:r>
              <a:rPr dirty="0" err="1"/>
              <a:t>en</a:t>
            </a:r>
            <a:r>
              <a:rPr dirty="0"/>
              <a:t> memoire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Derniere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par </a:t>
            </a:r>
            <a:r>
              <a:rPr dirty="0" err="1"/>
              <a:t>capteur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Compteurs</a:t>
            </a:r>
            <a:r>
              <a:rPr dirty="0"/>
              <a:t> (messages, </a:t>
            </a:r>
            <a:r>
              <a:rPr dirty="0" err="1"/>
              <a:t>alertes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rPr dirty="0"/>
              <a:t>API REST (3 routes)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/latest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  -&gt; </a:t>
            </a:r>
            <a:r>
              <a:rPr dirty="0" err="1"/>
              <a:t>derniere</a:t>
            </a:r>
            <a:r>
              <a:rPr dirty="0"/>
              <a:t> </a:t>
            </a:r>
            <a:r>
              <a:rPr dirty="0" err="1"/>
              <a:t>mesure</a:t>
            </a:r>
            <a:r>
              <a:rPr dirty="0"/>
              <a:t> par </a:t>
            </a:r>
            <a:r>
              <a:rPr dirty="0" err="1"/>
              <a:t>capteur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/history/{</a:t>
            </a:r>
            <a:r>
              <a:rPr dirty="0" err="1"/>
              <a:t>deviceId</a:t>
            </a:r>
            <a:r>
              <a:rPr dirty="0"/>
              <a:t>}?hours=24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  -&gt; </a:t>
            </a:r>
            <a:r>
              <a:rPr dirty="0" err="1"/>
              <a:t>historique</a:t>
            </a:r>
            <a:r>
              <a:rPr dirty="0"/>
              <a:t> </a:t>
            </a:r>
            <a:r>
              <a:rPr dirty="0" err="1"/>
              <a:t>filtre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/stats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  -&gt; messages, </a:t>
            </a:r>
            <a:r>
              <a:rPr dirty="0" err="1"/>
              <a:t>alertes</a:t>
            </a:r>
            <a:r>
              <a:rPr dirty="0"/>
              <a:t>, devices </a:t>
            </a:r>
            <a:r>
              <a:rPr dirty="0" err="1"/>
              <a:t>actifs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</a:defRPr>
            </a:pPr>
            <a:r>
              <a:t>PARTIE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PWA Mobile : fonctionnalites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</a:defRPr>
            </a:pPr>
            <a:r>
              <a:t>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002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Jauge circulaire de l'indice air, temperature, RSSI, alertes en temps reel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Historique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Graphiques temporels : temperature, NO2, ethanol, VOC, CO (24h)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7055"/>
                </a:solidFill>
              </a:defRPr>
            </a:pPr>
            <a:r>
              <a:rPr dirty="0" err="1"/>
              <a:t>Alertes</a:t>
            </a:r>
            <a:r>
              <a:rPr lang="fr-FR" dirty="0"/>
              <a:t> ( à faire)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Notifications browser quand un seuil est depasse, badge compteur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Seuils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Temperature haute/basse, gaz modere/eleve/critique, persistance localStorage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9204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Installable sur telephone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51560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</a:defRPr>
            </a:pPr>
            <a:r>
              <a:t>Hebergement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1500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AWS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Captures : ecran Accueil (jauge), Historique (graphiques), Seuils (sliders)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B894"/>
                </a:solidFill>
              </a:defRPr>
            </a:pPr>
            <a:r>
              <a:rPr dirty="0"/>
              <a:t>Ce qui </a:t>
            </a:r>
            <a:r>
              <a:rPr dirty="0" err="1"/>
              <a:t>fonctionne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Prototype </a:t>
            </a:r>
            <a:r>
              <a:rPr dirty="0" err="1"/>
              <a:t>complet</a:t>
            </a:r>
            <a:r>
              <a:rPr dirty="0"/>
              <a:t> : </a:t>
            </a:r>
            <a:r>
              <a:rPr dirty="0" err="1"/>
              <a:t>capteur</a:t>
            </a:r>
            <a:r>
              <a:rPr dirty="0"/>
              <a:t> a dashboard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Detection </a:t>
            </a:r>
            <a:r>
              <a:rPr dirty="0" err="1"/>
              <a:t>efficace</a:t>
            </a:r>
            <a:r>
              <a:rPr dirty="0"/>
              <a:t> des 3 scenarios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Application web temps reel sur EC2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PWA installable avec </a:t>
            </a:r>
            <a:r>
              <a:rPr dirty="0" err="1"/>
              <a:t>alertes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E17055"/>
                </a:solidFill>
              </a:defRPr>
            </a:pPr>
            <a:r>
              <a:rPr dirty="0" err="1"/>
              <a:t>Limites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- 6h : pas de cycle jour/</a:t>
            </a:r>
            <a:r>
              <a:rPr dirty="0" err="1"/>
              <a:t>nuit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TVOC = </a:t>
            </a:r>
            <a:r>
              <a:rPr dirty="0" err="1"/>
              <a:t>indice</a:t>
            </a:r>
            <a:r>
              <a:rPr dirty="0"/>
              <a:t>, pas concentration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Alertes</a:t>
            </a:r>
            <a:r>
              <a:rPr dirty="0"/>
              <a:t> </a:t>
            </a:r>
            <a:r>
              <a:rPr dirty="0" err="1"/>
              <a:t>transitoires</a:t>
            </a:r>
            <a:r>
              <a:rPr dirty="0"/>
              <a:t> post-</a:t>
            </a:r>
            <a:r>
              <a:rPr dirty="0" err="1"/>
              <a:t>evenement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- 10s </a:t>
            </a:r>
            <a:r>
              <a:rPr dirty="0" err="1"/>
              <a:t>exigeant</a:t>
            </a:r>
            <a:r>
              <a:rPr dirty="0"/>
              <a:t> pour </a:t>
            </a:r>
            <a:r>
              <a:rPr dirty="0" err="1"/>
              <a:t>LoRaWAN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rPr dirty="0"/>
              <a:t>Perspectives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Logique</a:t>
            </a:r>
            <a:r>
              <a:rPr dirty="0"/>
              <a:t> </a:t>
            </a:r>
            <a:r>
              <a:rPr dirty="0" err="1"/>
              <a:t>d'alerte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Detection de </a:t>
            </a:r>
            <a:r>
              <a:rPr dirty="0" err="1"/>
              <a:t>changement</a:t>
            </a:r>
            <a:r>
              <a:rPr dirty="0"/>
              <a:t> de regime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Base de </a:t>
            </a:r>
            <a:r>
              <a:rPr dirty="0" err="1"/>
              <a:t>donnees</a:t>
            </a: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94A3B8"/>
                </a:solidFill>
              </a:defRPr>
            </a:pPr>
            <a:r>
              <a:rPr dirty="0"/>
              <a:t>Technologies </a:t>
            </a:r>
            <a:r>
              <a:rPr dirty="0" err="1"/>
              <a:t>utilisees</a:t>
            </a: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Arduino + LoRa-E5-HF + Grove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LoRaWAN</a:t>
            </a:r>
            <a:r>
              <a:rPr dirty="0"/>
              <a:t> EU868 / TTN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Node-RED + node-red-dashboard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rPr dirty="0"/>
              <a:t>- Next.js + React + Tailwind</a:t>
            </a:r>
            <a:br>
              <a:rPr lang="fr-FR" dirty="0"/>
            </a:br>
            <a:r>
              <a:rPr dirty="0"/>
              <a:t>- AWS EC2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894"/>
                </a:solidFill>
              </a:defRPr>
            </a:pPr>
            <a:r>
              <a:rPr lang="fr-FR" dirty="0">
                <a:solidFill>
                  <a:schemeClr val="bg1"/>
                </a:solidFill>
              </a:rPr>
              <a:t>App</a:t>
            </a:r>
            <a:r>
              <a:rPr dirty="0">
                <a:solidFill>
                  <a:schemeClr val="bg1"/>
                </a:solidFill>
              </a:rPr>
              <a:t> live : </a:t>
            </a:r>
            <a:r>
              <a:rPr dirty="0">
                <a:hlinkClick r:id="rId2"/>
              </a:rPr>
              <a:t>http://54.242.158.223:3000</a:t>
            </a:r>
            <a:endParaRPr lang="fr-FR" dirty="0"/>
          </a:p>
          <a:p>
            <a:pPr algn="ctr">
              <a:defRPr sz="1600" b="0">
                <a:solidFill>
                  <a:srgbClr val="00B894"/>
                </a:solidFill>
              </a:defRPr>
            </a:pPr>
            <a:r>
              <a:rPr lang="fr-FR" dirty="0">
                <a:solidFill>
                  <a:schemeClr val="bg1"/>
                </a:solidFill>
                <a:latin typeface="inherit"/>
                <a:hlinkClick r:id="rId3" tooltip="http://192.168.141.80:1880/u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</a:t>
            </a:r>
            <a:r>
              <a:rPr lang="fr-FR" dirty="0" err="1">
                <a:solidFill>
                  <a:schemeClr val="bg1"/>
                </a:solidFill>
                <a:latin typeface="inherit"/>
                <a:hlinkClick r:id="rId3" tooltip="http://192.168.141.80:1880/u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Nod-red</a:t>
            </a:r>
            <a:r>
              <a:rPr lang="fr-FR" dirty="0">
                <a:solidFill>
                  <a:schemeClr val="bg1"/>
                </a:solidFill>
                <a:latin typeface="inherit"/>
                <a:hlinkClick r:id="rId3" tooltip="http://192.168.141.80:1880/u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</a:t>
            </a:r>
            <a:r>
              <a:rPr lang="fr-FR" b="0" i="0" dirty="0">
                <a:solidFill>
                  <a:schemeClr val="bg1"/>
                </a:solidFill>
                <a:latin typeface="inherit"/>
                <a:hlinkClick r:id="rId3" tooltip="http://192.168.141.80:1880/u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  <a:r>
              <a:rPr lang="fr-FR" b="0" i="0" u="sng" dirty="0">
                <a:solidFill>
                  <a:srgbClr val="0000FF"/>
                </a:solidFill>
                <a:effectLst/>
                <a:latin typeface="inherit"/>
                <a:hlinkClick r:id="rId3" tooltip="http://192.168.141.80:1880/u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http://192.168.141.80:1880/ui</a:t>
            </a:r>
            <a:endParaRPr lang="fr-FR" b="0" i="0" dirty="0">
              <a:effectLst/>
              <a:latin typeface="inherit"/>
            </a:endParaRPr>
          </a:p>
          <a:p>
            <a:pPr algn="ctr">
              <a:defRPr sz="1600" b="0">
                <a:solidFill>
                  <a:srgbClr val="00B894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1117</Words>
  <Application>Microsoft Office PowerPoint</Application>
  <PresentationFormat>Grand écran</PresentationFormat>
  <Paragraphs>195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inherit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2026-04-03T12:58:49Z</dcterms:modified>
  <cp:category/>
</cp:coreProperties>
</file>